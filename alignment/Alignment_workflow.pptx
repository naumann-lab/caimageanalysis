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F4F31-CDA5-0BCD-D821-4125D38C3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1283C-F169-3ECE-BA4F-9AB8664A6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340B2-85EA-68FF-6FE5-8A33FADD7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89113-582C-3A27-7799-9849D8D8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0BAC-2694-636F-07DA-3FBB4069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8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3B27-6A0F-E675-94C6-8345B68D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D34D4-C941-83C9-786D-279DE742B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F1CF8-12F0-5EF4-722D-3333F8B2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136F4-1A08-668F-945B-20CF179D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48AA2-7467-1EF3-3325-22EFE6F9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77F1-8022-250E-60BE-C441879B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8E43A-ACC7-2AA7-C988-F911C12BA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67F99-D656-0640-2ED7-150599EC2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4646B-E66A-5D32-8530-621FDD08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46D05-F915-61BE-D15C-BBE296DA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98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C621-81E4-D9D3-A386-3FE78086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60E04-2575-694C-72A3-A61CEA691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7A50C-C0B3-3A6B-FA64-D5032D4EE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93295-FB3B-506B-9F16-F2C272D5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A40BD-D043-4A2A-3759-D4301424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85D3-5DBC-C306-A818-47B3B6BE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7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DE11-217D-F4B5-1615-CC8AF78B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66DE8-73F3-8D8F-7E24-BB6EF7AFA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9334E-6C78-8AF2-797E-A95252279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09847-FDD0-066B-9C36-9B3EF42AC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EDFEB-46E2-8831-53F5-2FD240A21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2F59D-A596-4A32-00CA-3E04F246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CFD10A-C406-F207-C02A-86F5DDB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42868-88AC-C7BB-BEA9-D545B0C0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4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5C48-49B1-10A9-3A22-877B58F63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D20FF-5BB4-5F26-3B5D-EE0CBB8C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96633-B8DA-F2E1-A4BA-EECBD783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21598-1602-EEB9-5A21-249FDDFAC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2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85B0F-6212-E5C5-9788-E516FA40B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E6690-BE51-C72B-F345-04449E93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0F4C4-079A-409A-02B1-886AA931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E200-925E-51FB-DD44-2029D0AA6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6910F-7E59-1A13-0B4E-9DA0D0BE2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FC40A-6F23-BC7C-5D4D-141A01BBD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75277-5EB5-D805-4FCC-8B7B7483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9EE7E-E12E-247A-E9F8-A65879FA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9EE75-B45A-0EF6-C61E-6D804200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88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1ED46-BA27-D28C-B495-4918D7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20A5BD-71D4-3525-35E4-4D8FFE49E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BD591-142F-E11E-CC03-57DD2F91B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3E6C3-8119-50CB-1B3F-31084682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C79CB-A92C-E494-8A0B-724FA92F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091B9-7E05-48D0-B7F9-E614BE77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5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72DE-5C2E-4589-A6DE-1A003B2C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9DA20-B8F6-D7FA-1A26-FAC652177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ECB18-CE48-D872-E0CE-D4422D1B4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5A81F-C2AB-99C5-DC46-23CD902A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B58AD-1711-DEE1-19BA-418D09DB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7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08EEC-B8F1-AB72-D6A3-1BA8997E0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7EB9C-4712-E607-77A7-93BF3A9EF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B35D7-2038-1C82-6011-AEA51D67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0A77C-C3C0-F272-1066-6E1BA811E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4783F-2486-8ECC-433E-4ACD7057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2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4730AE-F2DF-50A5-C374-AA2797461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BF2FD-19CE-E495-D96D-4A2E8ACD1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D1E8F-ED05-8246-F912-F0E78FBFF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DF2A5C-B4EC-4475-B806-6F737635616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DBA9A-C70E-C00A-6B9C-87D1BA861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0F1A0-6DFA-79AC-24EB-84E9BEE31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B1350-81E2-41C8-A0E5-0F51043FF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0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36FBAEB4-26D7-8BEA-98CE-C0580868600D}"/>
              </a:ext>
            </a:extLst>
          </p:cNvPr>
          <p:cNvSpPr txBox="1"/>
          <p:nvPr/>
        </p:nvSpPr>
        <p:spPr>
          <a:xfrm>
            <a:off x="75895" y="0"/>
            <a:ext cx="527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Alignment.ipynb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3AF901-4E88-58B8-A35E-9C8923458206}"/>
              </a:ext>
            </a:extLst>
          </p:cNvPr>
          <p:cNvSpPr txBox="1"/>
          <p:nvPr/>
        </p:nvSpPr>
        <p:spPr>
          <a:xfrm>
            <a:off x="75894" y="262759"/>
            <a:ext cx="5271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Cleo 2025/03/09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BBFB1-1C04-65F0-F654-BA8BD6FCFA4A}"/>
              </a:ext>
            </a:extLst>
          </p:cNvPr>
          <p:cNvSpPr txBox="1"/>
          <p:nvPr/>
        </p:nvSpPr>
        <p:spPr>
          <a:xfrm>
            <a:off x="108942" y="1027208"/>
            <a:ext cx="5271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STEP1: Align best 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1365AF-3B65-55A2-290E-9D82DAAEC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93" t="11306" r="50831" b="13130"/>
          <a:stretch>
            <a:fillRect/>
          </a:stretch>
        </p:blipFill>
        <p:spPr>
          <a:xfrm>
            <a:off x="3070117" y="4516063"/>
            <a:ext cx="1252555" cy="1252554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3FB34DDC-6BC4-9B9C-8FF8-DD1B009E92EB}"/>
              </a:ext>
            </a:extLst>
          </p:cNvPr>
          <p:cNvGrpSpPr/>
          <p:nvPr/>
        </p:nvGrpSpPr>
        <p:grpSpPr>
          <a:xfrm rot="10800000">
            <a:off x="435846" y="4532169"/>
            <a:ext cx="418641" cy="972323"/>
            <a:chOff x="683725" y="4547427"/>
            <a:chExt cx="418641" cy="972323"/>
          </a:xfrm>
        </p:grpSpPr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36B69E94-EB07-C499-16DD-92A96CE23B69}"/>
                </a:ext>
              </a:extLst>
            </p:cNvPr>
            <p:cNvSpPr/>
            <p:nvPr/>
          </p:nvSpPr>
          <p:spPr>
            <a:xfrm>
              <a:off x="683725" y="454742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F4A6D4E9-4D7F-A764-D1A2-9B0C42EB898C}"/>
                </a:ext>
              </a:extLst>
            </p:cNvPr>
            <p:cNvSpPr/>
            <p:nvPr/>
          </p:nvSpPr>
          <p:spPr>
            <a:xfrm>
              <a:off x="683725" y="463796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B064ADE7-BBB9-7A86-D607-3D97BBFC8998}"/>
                </a:ext>
              </a:extLst>
            </p:cNvPr>
            <p:cNvSpPr/>
            <p:nvPr/>
          </p:nvSpPr>
          <p:spPr>
            <a:xfrm>
              <a:off x="683725" y="4728503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90736354-51EC-E0EB-7C48-55C3C324AAF5}"/>
                </a:ext>
              </a:extLst>
            </p:cNvPr>
            <p:cNvSpPr/>
            <p:nvPr/>
          </p:nvSpPr>
          <p:spPr>
            <a:xfrm>
              <a:off x="683725" y="4819041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1EE533C-3CC6-87A2-5CD4-0EBADC96B50D}"/>
                </a:ext>
              </a:extLst>
            </p:cNvPr>
            <p:cNvSpPr/>
            <p:nvPr/>
          </p:nvSpPr>
          <p:spPr>
            <a:xfrm>
              <a:off x="683725" y="4909579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E512670F-F5CC-A061-496E-8EF0ECE04F74}"/>
                </a:ext>
              </a:extLst>
            </p:cNvPr>
            <p:cNvSpPr/>
            <p:nvPr/>
          </p:nvSpPr>
          <p:spPr>
            <a:xfrm>
              <a:off x="683725" y="500011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DA2C5EC5-7FA7-693E-F920-1AB1540884AF}"/>
                </a:ext>
              </a:extLst>
            </p:cNvPr>
            <p:cNvSpPr/>
            <p:nvPr/>
          </p:nvSpPr>
          <p:spPr>
            <a:xfrm>
              <a:off x="683725" y="509065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61E71552-58BD-7DB1-FB16-1E88FBC41282}"/>
                </a:ext>
              </a:extLst>
            </p:cNvPr>
            <p:cNvSpPr/>
            <p:nvPr/>
          </p:nvSpPr>
          <p:spPr>
            <a:xfrm>
              <a:off x="683725" y="5181196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E8B73CB7-7A6F-52B6-A72C-81D3A03F0553}"/>
              </a:ext>
            </a:extLst>
          </p:cNvPr>
          <p:cNvSpPr txBox="1"/>
          <p:nvPr/>
        </p:nvSpPr>
        <p:spPr>
          <a:xfrm>
            <a:off x="102747" y="5469887"/>
            <a:ext cx="1048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C38DD54-A1C3-03C6-67CD-2B3E44A43C75}"/>
              </a:ext>
            </a:extLst>
          </p:cNvPr>
          <p:cNvGrpSpPr/>
          <p:nvPr/>
        </p:nvGrpSpPr>
        <p:grpSpPr>
          <a:xfrm rot="10800000">
            <a:off x="435846" y="2070878"/>
            <a:ext cx="418641" cy="700706"/>
            <a:chOff x="683725" y="4547427"/>
            <a:chExt cx="418641" cy="700706"/>
          </a:xfrm>
        </p:grpSpPr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0531044B-8B33-6206-D9B7-AF9DECC2FFD9}"/>
                </a:ext>
              </a:extLst>
            </p:cNvPr>
            <p:cNvSpPr/>
            <p:nvPr/>
          </p:nvSpPr>
          <p:spPr>
            <a:xfrm>
              <a:off x="683725" y="454742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70EF3893-30F6-5434-E00D-AE01D93843BE}"/>
                </a:ext>
              </a:extLst>
            </p:cNvPr>
            <p:cNvSpPr/>
            <p:nvPr/>
          </p:nvSpPr>
          <p:spPr>
            <a:xfrm>
              <a:off x="683725" y="463796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5A71C053-5139-3C13-1455-62DCBE5B24A9}"/>
                </a:ext>
              </a:extLst>
            </p:cNvPr>
            <p:cNvSpPr/>
            <p:nvPr/>
          </p:nvSpPr>
          <p:spPr>
            <a:xfrm>
              <a:off x="683725" y="4728503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6EFFA859-D136-B4DB-7D64-6544CEDB67A4}"/>
                </a:ext>
              </a:extLst>
            </p:cNvPr>
            <p:cNvSpPr/>
            <p:nvPr/>
          </p:nvSpPr>
          <p:spPr>
            <a:xfrm>
              <a:off x="683725" y="4819041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6EF17618-BC2A-77F8-3EDF-3B0BEF8DA25E}"/>
                </a:ext>
              </a:extLst>
            </p:cNvPr>
            <p:cNvSpPr/>
            <p:nvPr/>
          </p:nvSpPr>
          <p:spPr>
            <a:xfrm>
              <a:off x="683725" y="4909579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28" name="TextBox 1027">
            <a:extLst>
              <a:ext uri="{FF2B5EF4-FFF2-40B4-BE49-F238E27FC236}">
                <a16:creationId xmlns:a16="http://schemas.microsoft.com/office/drawing/2014/main" id="{E2A5C525-9227-B5D0-F9F9-99636C061472}"/>
              </a:ext>
            </a:extLst>
          </p:cNvPr>
          <p:cNvSpPr txBox="1"/>
          <p:nvPr/>
        </p:nvSpPr>
        <p:spPr>
          <a:xfrm>
            <a:off x="102746" y="2746877"/>
            <a:ext cx="1048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myfish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9E7C3AA0-DB1F-08F2-0C27-8CF0B28B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264" t="11897" r="4660" b="12539"/>
          <a:stretch>
            <a:fillRect/>
          </a:stretch>
        </p:blipFill>
        <p:spPr>
          <a:xfrm>
            <a:off x="2975524" y="1958786"/>
            <a:ext cx="1252555" cy="1252554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39323BD-0413-9ED5-3B65-E59D7F1738AE}"/>
              </a:ext>
            </a:extLst>
          </p:cNvPr>
          <p:cNvSpPr txBox="1"/>
          <p:nvPr/>
        </p:nvSpPr>
        <p:spPr>
          <a:xfrm>
            <a:off x="1120763" y="2448418"/>
            <a:ext cx="2000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downsample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 smooth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threshold: 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vmin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vmax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07534FFA-EE1A-B5E5-8F4F-308245F04AF9}"/>
              </a:ext>
            </a:extLst>
          </p:cNvPr>
          <p:cNvSpPr txBox="1"/>
          <p:nvPr/>
        </p:nvSpPr>
        <p:spPr>
          <a:xfrm>
            <a:off x="1069600" y="1958786"/>
            <a:ext cx="2000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First_register_plane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(best anatomical marker)</a:t>
            </a:r>
          </a:p>
        </p:txBody>
      </p: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FD46422A-C997-A78A-4F19-710753F14E76}"/>
              </a:ext>
            </a:extLst>
          </p:cNvPr>
          <p:cNvCxnSpPr/>
          <p:nvPr/>
        </p:nvCxnSpPr>
        <p:spPr>
          <a:xfrm>
            <a:off x="1118213" y="2448418"/>
            <a:ext cx="159358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1EF93FEA-BA05-FE0B-75D5-A5070E20385B}"/>
              </a:ext>
            </a:extLst>
          </p:cNvPr>
          <p:cNvCxnSpPr/>
          <p:nvPr/>
        </p:nvCxnSpPr>
        <p:spPr>
          <a:xfrm>
            <a:off x="1151262" y="5075400"/>
            <a:ext cx="159358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BED7CAF9-72F5-7E92-9B5F-24B0672EF8CD}"/>
              </a:ext>
            </a:extLst>
          </p:cNvPr>
          <p:cNvSpPr txBox="1"/>
          <p:nvPr/>
        </p:nvSpPr>
        <p:spPr>
          <a:xfrm>
            <a:off x="1069599" y="4532169"/>
            <a:ext cx="2051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 that best matches the 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first_register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plane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517940BD-2BC2-E52F-F2FE-1E608EB360A3}"/>
              </a:ext>
            </a:extLst>
          </p:cNvPr>
          <p:cNvSpPr txBox="1"/>
          <p:nvPr/>
        </p:nvSpPr>
        <p:spPr>
          <a:xfrm>
            <a:off x="1120763" y="5075400"/>
            <a:ext cx="2000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downsample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trim: 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y_low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top_cutoff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 smooth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threshold: 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vmin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vmax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05190FA-3638-19E1-1F7F-11B5666A7987}"/>
              </a:ext>
            </a:extLst>
          </p:cNvPr>
          <p:cNvSpPr txBox="1"/>
          <p:nvPr/>
        </p:nvSpPr>
        <p:spPr>
          <a:xfrm>
            <a:off x="108942" y="1442115"/>
            <a:ext cx="5271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find best planes + modify display parameters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1AF20A6C-FB1C-38E2-AAC8-5948A4F0D133}"/>
              </a:ext>
            </a:extLst>
          </p:cNvPr>
          <p:cNvSpPr txBox="1"/>
          <p:nvPr/>
        </p:nvSpPr>
        <p:spPr>
          <a:xfrm>
            <a:off x="5380753" y="1391846"/>
            <a:ext cx="5271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Two step registration to pseudo align </a:t>
            </a:r>
            <a:r>
              <a:rPr lang="en-US" sz="1600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myfish</a:t>
            </a: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template</a:t>
            </a:r>
          </a:p>
        </p:txBody>
      </p:sp>
      <p:pic>
        <p:nvPicPr>
          <p:cNvPr id="1040" name="Picture 1039">
            <a:extLst>
              <a:ext uri="{FF2B5EF4-FFF2-40B4-BE49-F238E27FC236}">
                <a16:creationId xmlns:a16="http://schemas.microsoft.com/office/drawing/2014/main" id="{163AB5BE-8B74-B9BB-11C9-0FC3FADF5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433" y="3097230"/>
            <a:ext cx="4172578" cy="2068708"/>
          </a:xfrm>
          <a:prstGeom prst="rect">
            <a:avLst/>
          </a:prstGeom>
        </p:spPr>
      </p:pic>
      <p:sp>
        <p:nvSpPr>
          <p:cNvPr id="1041" name="TextBox 1040">
            <a:extLst>
              <a:ext uri="{FF2B5EF4-FFF2-40B4-BE49-F238E27FC236}">
                <a16:creationId xmlns:a16="http://schemas.microsoft.com/office/drawing/2014/main" id="{85248510-61FE-2FB1-9E7D-F912865FC228}"/>
              </a:ext>
            </a:extLst>
          </p:cNvPr>
          <p:cNvSpPr txBox="1"/>
          <p:nvPr/>
        </p:nvSpPr>
        <p:spPr>
          <a:xfrm>
            <a:off x="4477975" y="3506697"/>
            <a:ext cx="2000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Registrations: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scalePanalty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Iterations_0,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Iterations_1)</a:t>
            </a:r>
          </a:p>
        </p:txBody>
      </p: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311044D1-441A-045E-1557-DC88D4072279}"/>
              </a:ext>
            </a:extLst>
          </p:cNvPr>
          <p:cNvCxnSpPr>
            <a:cxnSpLocks/>
          </p:cNvCxnSpPr>
          <p:nvPr/>
        </p:nvCxnSpPr>
        <p:spPr>
          <a:xfrm>
            <a:off x="4322672" y="2703917"/>
            <a:ext cx="1626436" cy="10770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DC40D097-75A3-9007-71D2-36652841DAAC}"/>
              </a:ext>
            </a:extLst>
          </p:cNvPr>
          <p:cNvCxnSpPr>
            <a:cxnSpLocks/>
          </p:cNvCxnSpPr>
          <p:nvPr/>
        </p:nvCxnSpPr>
        <p:spPr>
          <a:xfrm flipV="1">
            <a:off x="4420861" y="4063469"/>
            <a:ext cx="1528247" cy="111848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TextBox 1045">
            <a:extLst>
              <a:ext uri="{FF2B5EF4-FFF2-40B4-BE49-F238E27FC236}">
                <a16:creationId xmlns:a16="http://schemas.microsoft.com/office/drawing/2014/main" id="{FD83B082-3584-3ECB-ECFE-AA292DD56EDA}"/>
              </a:ext>
            </a:extLst>
          </p:cNvPr>
          <p:cNvSpPr txBox="1"/>
          <p:nvPr/>
        </p:nvSpPr>
        <p:spPr>
          <a:xfrm>
            <a:off x="7519620" y="5630117"/>
            <a:ext cx="2000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parameter 0</a:t>
            </a:r>
          </a:p>
        </p:txBody>
      </p: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1B6C0C88-04B1-DB43-8B28-4028FE5C4440}"/>
              </a:ext>
            </a:extLst>
          </p:cNvPr>
          <p:cNvCxnSpPr>
            <a:cxnSpLocks/>
          </p:cNvCxnSpPr>
          <p:nvPr/>
        </p:nvCxnSpPr>
        <p:spPr>
          <a:xfrm>
            <a:off x="8519878" y="5278417"/>
            <a:ext cx="0" cy="3048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057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11C8C-7ACA-FDDB-42F9-FFFBCBC8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65EC3E0C-EC66-359A-2CEC-E54CBA0512FA}"/>
              </a:ext>
            </a:extLst>
          </p:cNvPr>
          <p:cNvSpPr txBox="1"/>
          <p:nvPr/>
        </p:nvSpPr>
        <p:spPr>
          <a:xfrm>
            <a:off x="75895" y="0"/>
            <a:ext cx="527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Alignment.ipynb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A23D86-56B9-3945-3710-67BD417667FE}"/>
              </a:ext>
            </a:extLst>
          </p:cNvPr>
          <p:cNvSpPr txBox="1"/>
          <p:nvPr/>
        </p:nvSpPr>
        <p:spPr>
          <a:xfrm>
            <a:off x="75894" y="262759"/>
            <a:ext cx="5271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Cleo 2025/03/09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88CBC-D3AB-5EB2-3B54-ABCF47E0751F}"/>
              </a:ext>
            </a:extLst>
          </p:cNvPr>
          <p:cNvSpPr txBox="1"/>
          <p:nvPr/>
        </p:nvSpPr>
        <p:spPr>
          <a:xfrm>
            <a:off x="108942" y="1027208"/>
            <a:ext cx="5271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STEP2: Find best z alignments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B2906F-93C8-43E6-61F1-16F7674B1513}"/>
              </a:ext>
            </a:extLst>
          </p:cNvPr>
          <p:cNvGrpSpPr/>
          <p:nvPr/>
        </p:nvGrpSpPr>
        <p:grpSpPr>
          <a:xfrm rot="10800000">
            <a:off x="442042" y="4133363"/>
            <a:ext cx="418641" cy="972323"/>
            <a:chOff x="683725" y="4547427"/>
            <a:chExt cx="418641" cy="972323"/>
          </a:xfrm>
        </p:grpSpPr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20DEE781-3631-DCC7-EE21-8A7927B075BC}"/>
                </a:ext>
              </a:extLst>
            </p:cNvPr>
            <p:cNvSpPr/>
            <p:nvPr/>
          </p:nvSpPr>
          <p:spPr>
            <a:xfrm>
              <a:off x="683725" y="454742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C5082BF9-DD29-DCF3-5C94-7640F8C94F45}"/>
                </a:ext>
              </a:extLst>
            </p:cNvPr>
            <p:cNvSpPr/>
            <p:nvPr/>
          </p:nvSpPr>
          <p:spPr>
            <a:xfrm>
              <a:off x="683725" y="463796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86C0E266-09F1-C72C-B72B-25754B5F4180}"/>
                </a:ext>
              </a:extLst>
            </p:cNvPr>
            <p:cNvSpPr/>
            <p:nvPr/>
          </p:nvSpPr>
          <p:spPr>
            <a:xfrm>
              <a:off x="683725" y="4728503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41E8DA3D-6674-AD0F-CA11-7F51BDE996B5}"/>
                </a:ext>
              </a:extLst>
            </p:cNvPr>
            <p:cNvSpPr/>
            <p:nvPr/>
          </p:nvSpPr>
          <p:spPr>
            <a:xfrm>
              <a:off x="683725" y="4819041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F6F159EC-561A-1990-6520-68D41DEC1BC7}"/>
                </a:ext>
              </a:extLst>
            </p:cNvPr>
            <p:cNvSpPr/>
            <p:nvPr/>
          </p:nvSpPr>
          <p:spPr>
            <a:xfrm>
              <a:off x="683725" y="4909579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120B7EE2-3751-6945-C749-C85961DB57D7}"/>
                </a:ext>
              </a:extLst>
            </p:cNvPr>
            <p:cNvSpPr/>
            <p:nvPr/>
          </p:nvSpPr>
          <p:spPr>
            <a:xfrm>
              <a:off x="683725" y="500011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0053A8BA-3A51-2553-019D-D38292A0FDDB}"/>
                </a:ext>
              </a:extLst>
            </p:cNvPr>
            <p:cNvSpPr/>
            <p:nvPr/>
          </p:nvSpPr>
          <p:spPr>
            <a:xfrm>
              <a:off x="683725" y="509065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399826F3-49AF-B877-4612-0C3F2BC9C032}"/>
                </a:ext>
              </a:extLst>
            </p:cNvPr>
            <p:cNvSpPr/>
            <p:nvPr/>
          </p:nvSpPr>
          <p:spPr>
            <a:xfrm>
              <a:off x="683725" y="5181196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6CE1BB7-33A1-DAEE-8017-CFD91B276360}"/>
              </a:ext>
            </a:extLst>
          </p:cNvPr>
          <p:cNvSpPr txBox="1"/>
          <p:nvPr/>
        </p:nvSpPr>
        <p:spPr>
          <a:xfrm>
            <a:off x="108942" y="5082088"/>
            <a:ext cx="1048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5A2001E4-A8F7-FD06-DC77-65849FF29084}"/>
              </a:ext>
            </a:extLst>
          </p:cNvPr>
          <p:cNvCxnSpPr/>
          <p:nvPr/>
        </p:nvCxnSpPr>
        <p:spPr>
          <a:xfrm>
            <a:off x="1157458" y="4676594"/>
            <a:ext cx="159358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TextBox 1036">
            <a:extLst>
              <a:ext uri="{FF2B5EF4-FFF2-40B4-BE49-F238E27FC236}">
                <a16:creationId xmlns:a16="http://schemas.microsoft.com/office/drawing/2014/main" id="{5F57FB0F-65AD-AC29-F3AB-E7AD8468311E}"/>
              </a:ext>
            </a:extLst>
          </p:cNvPr>
          <p:cNvSpPr txBox="1"/>
          <p:nvPr/>
        </p:nvSpPr>
        <p:spPr>
          <a:xfrm>
            <a:off x="108942" y="1442115"/>
            <a:ext cx="5271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Find best z alignment for the </a:t>
            </a:r>
            <a:r>
              <a:rPr lang="en-US" sz="1600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first_registered_plane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FC59CC75-8A3D-ABC6-096F-6EE800B134F5}"/>
              </a:ext>
            </a:extLst>
          </p:cNvPr>
          <p:cNvCxnSpPr>
            <a:cxnSpLocks/>
          </p:cNvCxnSpPr>
          <p:nvPr/>
        </p:nvCxnSpPr>
        <p:spPr>
          <a:xfrm>
            <a:off x="1663343" y="2734908"/>
            <a:ext cx="108150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3CD3EBD-4257-B138-C7DD-3D89317E69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89" t="12822" r="34018" b="15942"/>
          <a:stretch>
            <a:fillRect/>
          </a:stretch>
        </p:blipFill>
        <p:spPr>
          <a:xfrm>
            <a:off x="8621758" y="2522140"/>
            <a:ext cx="2447353" cy="23494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44CE75-0288-6D6C-82D3-AA8726581AD6}"/>
              </a:ext>
            </a:extLst>
          </p:cNvPr>
          <p:cNvSpPr txBox="1"/>
          <p:nvPr/>
        </p:nvSpPr>
        <p:spPr>
          <a:xfrm>
            <a:off x="1126959" y="4676594"/>
            <a:ext cx="2000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downsample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trim: 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y_low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top_cutoff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 smooth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threshold: 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vmin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vmax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31171C-8047-11B4-E3B5-0B21B8EC97D4}"/>
              </a:ext>
            </a:extLst>
          </p:cNvPr>
          <p:cNvGrpSpPr/>
          <p:nvPr/>
        </p:nvGrpSpPr>
        <p:grpSpPr>
          <a:xfrm rot="10800000">
            <a:off x="2980106" y="4080354"/>
            <a:ext cx="418641" cy="972323"/>
            <a:chOff x="683725" y="4547427"/>
            <a:chExt cx="418641" cy="972323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F72DF39C-11C6-3DD1-9628-A2D56A93A8B9}"/>
                </a:ext>
              </a:extLst>
            </p:cNvPr>
            <p:cNvSpPr/>
            <p:nvPr/>
          </p:nvSpPr>
          <p:spPr>
            <a:xfrm>
              <a:off x="683725" y="454742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BE71B837-9BA1-50F3-8075-85571BA76985}"/>
                </a:ext>
              </a:extLst>
            </p:cNvPr>
            <p:cNvSpPr/>
            <p:nvPr/>
          </p:nvSpPr>
          <p:spPr>
            <a:xfrm>
              <a:off x="683725" y="463796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CC3659C6-97D3-99BB-C909-B9E8BD46FEEF}"/>
                </a:ext>
              </a:extLst>
            </p:cNvPr>
            <p:cNvSpPr/>
            <p:nvPr/>
          </p:nvSpPr>
          <p:spPr>
            <a:xfrm>
              <a:off x="683725" y="4728503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B6AD767B-9BA8-9E17-48CF-1233DE9312B2}"/>
                </a:ext>
              </a:extLst>
            </p:cNvPr>
            <p:cNvSpPr/>
            <p:nvPr/>
          </p:nvSpPr>
          <p:spPr>
            <a:xfrm>
              <a:off x="683725" y="4819041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DDC4D5B1-9763-D13E-146D-4CC414E7DBE5}"/>
                </a:ext>
              </a:extLst>
            </p:cNvPr>
            <p:cNvSpPr/>
            <p:nvPr/>
          </p:nvSpPr>
          <p:spPr>
            <a:xfrm>
              <a:off x="683725" y="4909579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B5C3B0D4-149F-58E3-625A-2BD7CCF0CC5C}"/>
                </a:ext>
              </a:extLst>
            </p:cNvPr>
            <p:cNvSpPr/>
            <p:nvPr/>
          </p:nvSpPr>
          <p:spPr>
            <a:xfrm>
              <a:off x="683725" y="500011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0C9D3F2F-EA39-F1A8-520E-37FA324D99E6}"/>
                </a:ext>
              </a:extLst>
            </p:cNvPr>
            <p:cNvSpPr/>
            <p:nvPr/>
          </p:nvSpPr>
          <p:spPr>
            <a:xfrm>
              <a:off x="683725" y="509065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A0165C70-33B0-B021-8EAF-B63859C0F7B2}"/>
                </a:ext>
              </a:extLst>
            </p:cNvPr>
            <p:cNvSpPr/>
            <p:nvPr/>
          </p:nvSpPr>
          <p:spPr>
            <a:xfrm>
              <a:off x="683725" y="5181196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2D50500-2A6C-1D43-A8B5-95B6AC5BAECF}"/>
              </a:ext>
            </a:extLst>
          </p:cNvPr>
          <p:cNvSpPr txBox="1"/>
          <p:nvPr/>
        </p:nvSpPr>
        <p:spPr>
          <a:xfrm>
            <a:off x="2647007" y="5018072"/>
            <a:ext cx="1048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8174B0F-5BCE-7711-3219-C892EF21A343}"/>
              </a:ext>
            </a:extLst>
          </p:cNvPr>
          <p:cNvCxnSpPr>
            <a:cxnSpLocks/>
          </p:cNvCxnSpPr>
          <p:nvPr/>
        </p:nvCxnSpPr>
        <p:spPr>
          <a:xfrm flipV="1">
            <a:off x="3695524" y="3569363"/>
            <a:ext cx="1639958" cy="5983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F146EA7-DEE8-2801-56C3-7AA88AC7DB19}"/>
              </a:ext>
            </a:extLst>
          </p:cNvPr>
          <p:cNvSpPr txBox="1"/>
          <p:nvPr/>
        </p:nvSpPr>
        <p:spPr>
          <a:xfrm>
            <a:off x="4288579" y="3300922"/>
            <a:ext cx="2000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dice similarity</a:t>
            </a:r>
          </a:p>
        </p:txBody>
      </p:sp>
      <p:pic>
        <p:nvPicPr>
          <p:cNvPr id="1025" name="Picture 1024">
            <a:extLst>
              <a:ext uri="{FF2B5EF4-FFF2-40B4-BE49-F238E27FC236}">
                <a16:creationId xmlns:a16="http://schemas.microsoft.com/office/drawing/2014/main" id="{1EB84C54-D4B6-86DC-FFAE-F5A0974EF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264" t="11897" r="4660" b="12539"/>
          <a:stretch>
            <a:fillRect/>
          </a:stretch>
        </p:blipFill>
        <p:spPr>
          <a:xfrm>
            <a:off x="234405" y="2059124"/>
            <a:ext cx="1252555" cy="1252554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290BE63B-4C76-7272-27BA-4CD032776284}"/>
              </a:ext>
            </a:extLst>
          </p:cNvPr>
          <p:cNvSpPr txBox="1"/>
          <p:nvPr/>
        </p:nvSpPr>
        <p:spPr>
          <a:xfrm>
            <a:off x="154377" y="3276976"/>
            <a:ext cx="2492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myfish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first_registered_plane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A6261F12-DB6A-DA0A-3545-6175A2985FE9}"/>
              </a:ext>
            </a:extLst>
          </p:cNvPr>
          <p:cNvSpPr txBox="1"/>
          <p:nvPr/>
        </p:nvSpPr>
        <p:spPr>
          <a:xfrm>
            <a:off x="1572161" y="2261314"/>
            <a:ext cx="1139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parameter 0</a:t>
            </a:r>
          </a:p>
        </p:txBody>
      </p:sp>
      <p:pic>
        <p:nvPicPr>
          <p:cNvPr id="1048" name="Picture 1047">
            <a:extLst>
              <a:ext uri="{FF2B5EF4-FFF2-40B4-BE49-F238E27FC236}">
                <a16:creationId xmlns:a16="http://schemas.microsoft.com/office/drawing/2014/main" id="{A9F9C954-88B1-8715-BEAD-EE25B9DDA7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81" t="4921" r="6618" b="9796"/>
          <a:stretch>
            <a:fillRect/>
          </a:stretch>
        </p:blipFill>
        <p:spPr>
          <a:xfrm>
            <a:off x="2881687" y="2059124"/>
            <a:ext cx="1252555" cy="1258603"/>
          </a:xfrm>
          <a:prstGeom prst="rect">
            <a:avLst/>
          </a:prstGeom>
        </p:spPr>
      </p:pic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113C89BE-17F4-353B-8A84-002D8CC87D64}"/>
              </a:ext>
            </a:extLst>
          </p:cNvPr>
          <p:cNvCxnSpPr>
            <a:cxnSpLocks/>
          </p:cNvCxnSpPr>
          <p:nvPr/>
        </p:nvCxnSpPr>
        <p:spPr>
          <a:xfrm>
            <a:off x="4288598" y="2758766"/>
            <a:ext cx="1092155" cy="5529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8B6B5DC3-610F-7DF9-DD34-9CCC83E99BDF}"/>
              </a:ext>
            </a:extLst>
          </p:cNvPr>
          <p:cNvCxnSpPr>
            <a:cxnSpLocks/>
          </p:cNvCxnSpPr>
          <p:nvPr/>
        </p:nvCxnSpPr>
        <p:spPr>
          <a:xfrm flipV="1">
            <a:off x="3728364" y="3712912"/>
            <a:ext cx="1639959" cy="5983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4A71F272-CBC3-543D-34BB-AB1D474753E6}"/>
              </a:ext>
            </a:extLst>
          </p:cNvPr>
          <p:cNvCxnSpPr>
            <a:cxnSpLocks/>
          </p:cNvCxnSpPr>
          <p:nvPr/>
        </p:nvCxnSpPr>
        <p:spPr>
          <a:xfrm flipV="1">
            <a:off x="3771724" y="3844165"/>
            <a:ext cx="1639958" cy="5983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213FF4D3-F36A-A663-9368-261E3F934E69}"/>
              </a:ext>
            </a:extLst>
          </p:cNvPr>
          <p:cNvCxnSpPr>
            <a:cxnSpLocks/>
          </p:cNvCxnSpPr>
          <p:nvPr/>
        </p:nvCxnSpPr>
        <p:spPr>
          <a:xfrm flipV="1">
            <a:off x="3820752" y="3970597"/>
            <a:ext cx="1639958" cy="5983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DDE42709-5735-AC70-8664-3684BCEA041F}"/>
              </a:ext>
            </a:extLst>
          </p:cNvPr>
          <p:cNvCxnSpPr>
            <a:cxnSpLocks/>
          </p:cNvCxnSpPr>
          <p:nvPr/>
        </p:nvCxnSpPr>
        <p:spPr>
          <a:xfrm flipV="1">
            <a:off x="3862297" y="4091559"/>
            <a:ext cx="1639958" cy="5983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9" name="Picture 1058">
            <a:extLst>
              <a:ext uri="{FF2B5EF4-FFF2-40B4-BE49-F238E27FC236}">
                <a16:creationId xmlns:a16="http://schemas.microsoft.com/office/drawing/2014/main" id="{70CB1A90-00BC-506C-DC77-90987411C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12" t="1170" r="2"/>
          <a:stretch>
            <a:fillRect/>
          </a:stretch>
        </p:blipFill>
        <p:spPr>
          <a:xfrm>
            <a:off x="5655525" y="2347234"/>
            <a:ext cx="2574075" cy="2812751"/>
          </a:xfrm>
          <a:prstGeom prst="rect">
            <a:avLst/>
          </a:prstGeom>
        </p:spPr>
      </p:pic>
      <p:sp>
        <p:nvSpPr>
          <p:cNvPr id="1060" name="TextBox 1059">
            <a:extLst>
              <a:ext uri="{FF2B5EF4-FFF2-40B4-BE49-F238E27FC236}">
                <a16:creationId xmlns:a16="http://schemas.microsoft.com/office/drawing/2014/main" id="{F4D44F3F-F515-5E69-3D90-5F3C20BA0CAE}"/>
              </a:ext>
            </a:extLst>
          </p:cNvPr>
          <p:cNvSpPr txBox="1"/>
          <p:nvPr/>
        </p:nvSpPr>
        <p:spPr>
          <a:xfrm>
            <a:off x="5808795" y="5052677"/>
            <a:ext cx="2574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 planes</a:t>
            </a:r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69B2CB3B-B8C6-188E-7754-1B6EC68F8437}"/>
              </a:ext>
            </a:extLst>
          </p:cNvPr>
          <p:cNvSpPr/>
          <p:nvPr/>
        </p:nvSpPr>
        <p:spPr>
          <a:xfrm>
            <a:off x="7623672" y="2261314"/>
            <a:ext cx="434088" cy="260826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93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C4343-E1F8-0167-4412-56B67F549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041">
            <a:extLst>
              <a:ext uri="{FF2B5EF4-FFF2-40B4-BE49-F238E27FC236}">
                <a16:creationId xmlns:a16="http://schemas.microsoft.com/office/drawing/2014/main" id="{173AF524-4F70-2371-903D-4E86166EF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507" t="331"/>
          <a:stretch>
            <a:fillRect/>
          </a:stretch>
        </p:blipFill>
        <p:spPr>
          <a:xfrm>
            <a:off x="5681740" y="2258785"/>
            <a:ext cx="2543386" cy="279389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C22A190-76DA-999F-2D24-89A7F4A93643}"/>
              </a:ext>
            </a:extLst>
          </p:cNvPr>
          <p:cNvSpPr txBox="1"/>
          <p:nvPr/>
        </p:nvSpPr>
        <p:spPr>
          <a:xfrm>
            <a:off x="75895" y="0"/>
            <a:ext cx="527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Alignment.ipynb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25F09-BB76-3003-91DB-CD252256D2C8}"/>
              </a:ext>
            </a:extLst>
          </p:cNvPr>
          <p:cNvSpPr txBox="1"/>
          <p:nvPr/>
        </p:nvSpPr>
        <p:spPr>
          <a:xfrm>
            <a:off x="75894" y="262759"/>
            <a:ext cx="5271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Cleo 2025/03/09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99A02-0D06-C5A3-FAC6-D4ACDAA26AD4}"/>
              </a:ext>
            </a:extLst>
          </p:cNvPr>
          <p:cNvSpPr txBox="1"/>
          <p:nvPr/>
        </p:nvSpPr>
        <p:spPr>
          <a:xfrm>
            <a:off x="108942" y="1027208"/>
            <a:ext cx="5271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STEP2: Find best z alignments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48F376D-2685-BCC3-8D2E-E640C5140119}"/>
              </a:ext>
            </a:extLst>
          </p:cNvPr>
          <p:cNvGrpSpPr/>
          <p:nvPr/>
        </p:nvGrpSpPr>
        <p:grpSpPr>
          <a:xfrm rot="10800000">
            <a:off x="442042" y="4133363"/>
            <a:ext cx="418641" cy="972323"/>
            <a:chOff x="683725" y="4547427"/>
            <a:chExt cx="418641" cy="972323"/>
          </a:xfrm>
        </p:grpSpPr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214D8015-E3C5-FC7F-0547-3B6119095978}"/>
                </a:ext>
              </a:extLst>
            </p:cNvPr>
            <p:cNvSpPr/>
            <p:nvPr/>
          </p:nvSpPr>
          <p:spPr>
            <a:xfrm>
              <a:off x="683725" y="454742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BEC4278D-29CA-8A8C-28DC-58DDB1F06466}"/>
                </a:ext>
              </a:extLst>
            </p:cNvPr>
            <p:cNvSpPr/>
            <p:nvPr/>
          </p:nvSpPr>
          <p:spPr>
            <a:xfrm>
              <a:off x="683725" y="463796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856B4E76-A73F-DF15-2B36-DC6627C4142A}"/>
                </a:ext>
              </a:extLst>
            </p:cNvPr>
            <p:cNvSpPr/>
            <p:nvPr/>
          </p:nvSpPr>
          <p:spPr>
            <a:xfrm>
              <a:off x="683725" y="4728503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E6BB3822-4CC7-8F0A-14DC-0FEF1BEECB83}"/>
                </a:ext>
              </a:extLst>
            </p:cNvPr>
            <p:cNvSpPr/>
            <p:nvPr/>
          </p:nvSpPr>
          <p:spPr>
            <a:xfrm>
              <a:off x="683725" y="4819041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4B91A3FD-404B-9A25-04A9-D5C5418B1E07}"/>
                </a:ext>
              </a:extLst>
            </p:cNvPr>
            <p:cNvSpPr/>
            <p:nvPr/>
          </p:nvSpPr>
          <p:spPr>
            <a:xfrm>
              <a:off x="683725" y="4909579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4AD70187-18C8-10F9-3374-CBEFB43F904E}"/>
                </a:ext>
              </a:extLst>
            </p:cNvPr>
            <p:cNvSpPr/>
            <p:nvPr/>
          </p:nvSpPr>
          <p:spPr>
            <a:xfrm>
              <a:off x="683725" y="500011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46326272-2835-B5D8-BB28-E01642E4B587}"/>
                </a:ext>
              </a:extLst>
            </p:cNvPr>
            <p:cNvSpPr/>
            <p:nvPr/>
          </p:nvSpPr>
          <p:spPr>
            <a:xfrm>
              <a:off x="683725" y="509065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1B511289-7F7C-54EA-8166-D56FCF1DCEEE}"/>
                </a:ext>
              </a:extLst>
            </p:cNvPr>
            <p:cNvSpPr/>
            <p:nvPr/>
          </p:nvSpPr>
          <p:spPr>
            <a:xfrm>
              <a:off x="683725" y="5181196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DADD2BB-4D75-988D-5BEA-1A13F0B41047}"/>
              </a:ext>
            </a:extLst>
          </p:cNvPr>
          <p:cNvSpPr txBox="1"/>
          <p:nvPr/>
        </p:nvSpPr>
        <p:spPr>
          <a:xfrm>
            <a:off x="108942" y="5082088"/>
            <a:ext cx="1048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E46C9CEC-5699-9920-3210-041FB40C6C27}"/>
              </a:ext>
            </a:extLst>
          </p:cNvPr>
          <p:cNvCxnSpPr/>
          <p:nvPr/>
        </p:nvCxnSpPr>
        <p:spPr>
          <a:xfrm>
            <a:off x="1157458" y="4676594"/>
            <a:ext cx="159358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TextBox 1036">
            <a:extLst>
              <a:ext uri="{FF2B5EF4-FFF2-40B4-BE49-F238E27FC236}">
                <a16:creationId xmlns:a16="http://schemas.microsoft.com/office/drawing/2014/main" id="{C9317F72-BB10-B93F-09B3-600D45E7CBDC}"/>
              </a:ext>
            </a:extLst>
          </p:cNvPr>
          <p:cNvSpPr txBox="1"/>
          <p:nvPr/>
        </p:nvSpPr>
        <p:spPr>
          <a:xfrm>
            <a:off x="108942" y="1442115"/>
            <a:ext cx="96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Find best z alignment for other planes according to z offset from the first plane</a:t>
            </a:r>
          </a:p>
        </p:txBody>
      </p: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C680C0BD-A8E9-314C-D51E-670713009E1D}"/>
              </a:ext>
            </a:extLst>
          </p:cNvPr>
          <p:cNvCxnSpPr>
            <a:cxnSpLocks/>
          </p:cNvCxnSpPr>
          <p:nvPr/>
        </p:nvCxnSpPr>
        <p:spPr>
          <a:xfrm>
            <a:off x="1232784" y="2702205"/>
            <a:ext cx="108150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74630F9-A8D1-8886-B397-F64AF240D8C8}"/>
              </a:ext>
            </a:extLst>
          </p:cNvPr>
          <p:cNvSpPr txBox="1"/>
          <p:nvPr/>
        </p:nvSpPr>
        <p:spPr>
          <a:xfrm>
            <a:off x="1126959" y="4676594"/>
            <a:ext cx="2000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downsample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trim: 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y_low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top_cutoff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 smooth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threshold: 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vmin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vmax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863CC4-C506-6A7B-0060-80C140A812F8}"/>
              </a:ext>
            </a:extLst>
          </p:cNvPr>
          <p:cNvGrpSpPr/>
          <p:nvPr/>
        </p:nvGrpSpPr>
        <p:grpSpPr>
          <a:xfrm rot="10800000">
            <a:off x="2980106" y="4080354"/>
            <a:ext cx="418641" cy="972323"/>
            <a:chOff x="683725" y="4547427"/>
            <a:chExt cx="418641" cy="972323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3B8633C-EDCE-8969-5EB0-4D79B172A42D}"/>
                </a:ext>
              </a:extLst>
            </p:cNvPr>
            <p:cNvSpPr/>
            <p:nvPr/>
          </p:nvSpPr>
          <p:spPr>
            <a:xfrm>
              <a:off x="683725" y="454742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97856962-795A-B221-0BB6-90A7E0EBEAD2}"/>
                </a:ext>
              </a:extLst>
            </p:cNvPr>
            <p:cNvSpPr/>
            <p:nvPr/>
          </p:nvSpPr>
          <p:spPr>
            <a:xfrm>
              <a:off x="683725" y="463796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03BA3708-C2D8-13DB-5D24-DC1B0013140A}"/>
                </a:ext>
              </a:extLst>
            </p:cNvPr>
            <p:cNvSpPr/>
            <p:nvPr/>
          </p:nvSpPr>
          <p:spPr>
            <a:xfrm>
              <a:off x="683725" y="4728503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84E025DA-C089-FA9B-1946-423E60068300}"/>
                </a:ext>
              </a:extLst>
            </p:cNvPr>
            <p:cNvSpPr/>
            <p:nvPr/>
          </p:nvSpPr>
          <p:spPr>
            <a:xfrm>
              <a:off x="683725" y="4819041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521B86F9-060E-E918-D2EA-3F60ADDC5545}"/>
                </a:ext>
              </a:extLst>
            </p:cNvPr>
            <p:cNvSpPr/>
            <p:nvPr/>
          </p:nvSpPr>
          <p:spPr>
            <a:xfrm>
              <a:off x="683725" y="4909579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A2CD3F02-373C-C3E5-136C-9B5EDCA5E3CA}"/>
                </a:ext>
              </a:extLst>
            </p:cNvPr>
            <p:cNvSpPr/>
            <p:nvPr/>
          </p:nvSpPr>
          <p:spPr>
            <a:xfrm>
              <a:off x="683725" y="500011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E98E7AF-5C77-5216-8ADD-CDF32F552A3C}"/>
                </a:ext>
              </a:extLst>
            </p:cNvPr>
            <p:cNvSpPr/>
            <p:nvPr/>
          </p:nvSpPr>
          <p:spPr>
            <a:xfrm>
              <a:off x="683725" y="509065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9EE5DA24-7998-C702-9683-4198C221B091}"/>
                </a:ext>
              </a:extLst>
            </p:cNvPr>
            <p:cNvSpPr/>
            <p:nvPr/>
          </p:nvSpPr>
          <p:spPr>
            <a:xfrm>
              <a:off x="683725" y="5181196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9E99062-FFE4-28D3-8224-922528599A2E}"/>
              </a:ext>
            </a:extLst>
          </p:cNvPr>
          <p:cNvSpPr txBox="1"/>
          <p:nvPr/>
        </p:nvSpPr>
        <p:spPr>
          <a:xfrm>
            <a:off x="2647007" y="5018072"/>
            <a:ext cx="1048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D4BC84-88FD-6B02-27BC-4ABA72F58835}"/>
              </a:ext>
            </a:extLst>
          </p:cNvPr>
          <p:cNvSpPr txBox="1"/>
          <p:nvPr/>
        </p:nvSpPr>
        <p:spPr>
          <a:xfrm>
            <a:off x="3968318" y="3287874"/>
            <a:ext cx="2000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dice similarity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C57671B7-D706-6351-B25F-5330A2F1D1D2}"/>
              </a:ext>
            </a:extLst>
          </p:cNvPr>
          <p:cNvSpPr txBox="1"/>
          <p:nvPr/>
        </p:nvSpPr>
        <p:spPr>
          <a:xfrm>
            <a:off x="219169" y="3022603"/>
            <a:ext cx="2492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myfish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planes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52515609-7AC9-72A6-D62F-E2C9BE9DA82A}"/>
              </a:ext>
            </a:extLst>
          </p:cNvPr>
          <p:cNvSpPr txBox="1"/>
          <p:nvPr/>
        </p:nvSpPr>
        <p:spPr>
          <a:xfrm>
            <a:off x="1203717" y="2247811"/>
            <a:ext cx="1139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parameter 0</a:t>
            </a:r>
          </a:p>
        </p:txBody>
      </p: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D832C917-7DD4-92EA-0C27-174A5BC86A08}"/>
              </a:ext>
            </a:extLst>
          </p:cNvPr>
          <p:cNvCxnSpPr>
            <a:cxnSpLocks/>
          </p:cNvCxnSpPr>
          <p:nvPr/>
        </p:nvCxnSpPr>
        <p:spPr>
          <a:xfrm>
            <a:off x="3946456" y="2688486"/>
            <a:ext cx="1161360" cy="49777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0" name="TextBox 1059">
            <a:extLst>
              <a:ext uri="{FF2B5EF4-FFF2-40B4-BE49-F238E27FC236}">
                <a16:creationId xmlns:a16="http://schemas.microsoft.com/office/drawing/2014/main" id="{4D814628-3513-F966-DDE4-970257D5A469}"/>
              </a:ext>
            </a:extLst>
          </p:cNvPr>
          <p:cNvSpPr txBox="1"/>
          <p:nvPr/>
        </p:nvSpPr>
        <p:spPr>
          <a:xfrm>
            <a:off x="5757338" y="5042003"/>
            <a:ext cx="2574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 planes</a:t>
            </a:r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E0944798-4155-175E-25ED-589EFB28DAF5}"/>
              </a:ext>
            </a:extLst>
          </p:cNvPr>
          <p:cNvSpPr/>
          <p:nvPr/>
        </p:nvSpPr>
        <p:spPr>
          <a:xfrm>
            <a:off x="7623672" y="2261314"/>
            <a:ext cx="434088" cy="260826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98E72C-4D60-D1C0-FE3C-4A4B21D97F35}"/>
              </a:ext>
            </a:extLst>
          </p:cNvPr>
          <p:cNvGrpSpPr/>
          <p:nvPr/>
        </p:nvGrpSpPr>
        <p:grpSpPr>
          <a:xfrm rot="10800000">
            <a:off x="432069" y="2291940"/>
            <a:ext cx="418641" cy="700706"/>
            <a:chOff x="683725" y="4547427"/>
            <a:chExt cx="418641" cy="700706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F00A539A-0176-068C-CF5E-1C3B676387F8}"/>
                </a:ext>
              </a:extLst>
            </p:cNvPr>
            <p:cNvSpPr/>
            <p:nvPr/>
          </p:nvSpPr>
          <p:spPr>
            <a:xfrm>
              <a:off x="683725" y="4547427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7E7BC37E-7F7B-82C7-4CA4-4A0A028D6CB7}"/>
                </a:ext>
              </a:extLst>
            </p:cNvPr>
            <p:cNvSpPr/>
            <p:nvPr/>
          </p:nvSpPr>
          <p:spPr>
            <a:xfrm>
              <a:off x="683725" y="4637965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5D61866A-6F6D-0407-44C7-0FCA1CB1A118}"/>
                </a:ext>
              </a:extLst>
            </p:cNvPr>
            <p:cNvSpPr/>
            <p:nvPr/>
          </p:nvSpPr>
          <p:spPr>
            <a:xfrm>
              <a:off x="683725" y="4728503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91249C06-56CB-F0ED-126C-44D229FD1C9A}"/>
                </a:ext>
              </a:extLst>
            </p:cNvPr>
            <p:cNvSpPr/>
            <p:nvPr/>
          </p:nvSpPr>
          <p:spPr>
            <a:xfrm>
              <a:off x="683725" y="4819041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9ABDE15C-FDCE-99DD-AA35-5BC161D1DB0F}"/>
                </a:ext>
              </a:extLst>
            </p:cNvPr>
            <p:cNvSpPr/>
            <p:nvPr/>
          </p:nvSpPr>
          <p:spPr>
            <a:xfrm>
              <a:off x="683725" y="4909579"/>
              <a:ext cx="418641" cy="338554"/>
            </a:xfrm>
            <a:prstGeom prst="parallelogram">
              <a:avLst>
                <a:gd name="adj" fmla="val 4127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3DEB446-C822-E77F-19A4-E9FC2F1705C4}"/>
              </a:ext>
            </a:extLst>
          </p:cNvPr>
          <p:cNvSpPr txBox="1"/>
          <p:nvPr/>
        </p:nvSpPr>
        <p:spPr>
          <a:xfrm>
            <a:off x="1831323" y="4217909"/>
            <a:ext cx="2000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Prev. matched z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AC6305-C18D-C6F7-B548-452E8D34D494}"/>
              </a:ext>
            </a:extLst>
          </p:cNvPr>
          <p:cNvSpPr txBox="1"/>
          <p:nvPr/>
        </p:nvSpPr>
        <p:spPr>
          <a:xfrm>
            <a:off x="3627808" y="4046037"/>
            <a:ext cx="2000517" cy="39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Xum</a:t>
            </a:r>
          </a:p>
          <a:p>
            <a:pPr>
              <a:lnSpc>
                <a:spcPct val="80000"/>
              </a:lnSpc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ventral</a:t>
            </a:r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27399771-A55F-A93B-C955-35B36B95893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30162" y="4201710"/>
            <a:ext cx="12700" cy="386610"/>
          </a:xfrm>
          <a:prstGeom prst="curvedConnector4">
            <a:avLst>
              <a:gd name="adj1" fmla="val -1800000"/>
              <a:gd name="adj2" fmla="val 67912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80B938D-870B-EABB-4CAD-2F2E1B5BAEF8}"/>
              </a:ext>
            </a:extLst>
          </p:cNvPr>
          <p:cNvCxnSpPr>
            <a:cxnSpLocks/>
          </p:cNvCxnSpPr>
          <p:nvPr/>
        </p:nvCxnSpPr>
        <p:spPr>
          <a:xfrm flipV="1">
            <a:off x="3946456" y="3562223"/>
            <a:ext cx="1266613" cy="96427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09EDADE-9807-9F29-CF97-791AF44F36B8}"/>
              </a:ext>
            </a:extLst>
          </p:cNvPr>
          <p:cNvCxnSpPr>
            <a:cxnSpLocks/>
          </p:cNvCxnSpPr>
          <p:nvPr/>
        </p:nvCxnSpPr>
        <p:spPr>
          <a:xfrm flipV="1">
            <a:off x="4016786" y="3675080"/>
            <a:ext cx="1204307" cy="91683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FECF3545-F0BA-C864-64BF-623E5D9C1190}"/>
              </a:ext>
            </a:extLst>
          </p:cNvPr>
          <p:cNvCxnSpPr>
            <a:cxnSpLocks/>
          </p:cNvCxnSpPr>
          <p:nvPr/>
        </p:nvCxnSpPr>
        <p:spPr>
          <a:xfrm flipV="1">
            <a:off x="4060901" y="3807785"/>
            <a:ext cx="1172506" cy="89262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Box 1026">
            <a:extLst>
              <a:ext uri="{FF2B5EF4-FFF2-40B4-BE49-F238E27FC236}">
                <a16:creationId xmlns:a16="http://schemas.microsoft.com/office/drawing/2014/main" id="{5B8FC5F6-DBB2-205A-8A18-76639E0AFB5D}"/>
              </a:ext>
            </a:extLst>
          </p:cNvPr>
          <p:cNvSpPr txBox="1"/>
          <p:nvPr/>
        </p:nvSpPr>
        <p:spPr>
          <a:xfrm>
            <a:off x="3381153" y="4693636"/>
            <a:ext cx="2000517" cy="2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+/- Yum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B78C0437-86F1-095D-10B2-D2F3A3F04E1A}"/>
              </a:ext>
            </a:extLst>
          </p:cNvPr>
          <p:cNvSpPr txBox="1"/>
          <p:nvPr/>
        </p:nvSpPr>
        <p:spPr>
          <a:xfrm>
            <a:off x="120646" y="1753574"/>
            <a:ext cx="2000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*for each plane</a:t>
            </a:r>
          </a:p>
        </p:txBody>
      </p:sp>
      <p:pic>
        <p:nvPicPr>
          <p:cNvPr id="1047" name="Picture 1046">
            <a:extLst>
              <a:ext uri="{FF2B5EF4-FFF2-40B4-BE49-F238E27FC236}">
                <a16:creationId xmlns:a16="http://schemas.microsoft.com/office/drawing/2014/main" id="{F9F0CA7E-4846-C608-4B2D-B2B2055E3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77" t="12944" r="33763" b="12945"/>
          <a:stretch>
            <a:fillRect/>
          </a:stretch>
        </p:blipFill>
        <p:spPr>
          <a:xfrm>
            <a:off x="8673459" y="2389325"/>
            <a:ext cx="2366761" cy="2332526"/>
          </a:xfrm>
          <a:prstGeom prst="rect">
            <a:avLst/>
          </a:prstGeom>
        </p:spPr>
      </p:pic>
      <p:pic>
        <p:nvPicPr>
          <p:cNvPr id="1051" name="Picture 1050">
            <a:extLst>
              <a:ext uri="{FF2B5EF4-FFF2-40B4-BE49-F238E27FC236}">
                <a16:creationId xmlns:a16="http://schemas.microsoft.com/office/drawing/2014/main" id="{81EA11B6-FB96-F3F8-392C-4788B79061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80" t="5740" r="7477" b="10725"/>
          <a:stretch>
            <a:fillRect/>
          </a:stretch>
        </p:blipFill>
        <p:spPr>
          <a:xfrm>
            <a:off x="2520460" y="2030573"/>
            <a:ext cx="1214031" cy="120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41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27311-42E5-B9F3-A031-26307552E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55688216-E912-E68A-343C-3E3C651403FF}"/>
              </a:ext>
            </a:extLst>
          </p:cNvPr>
          <p:cNvSpPr txBox="1"/>
          <p:nvPr/>
        </p:nvSpPr>
        <p:spPr>
          <a:xfrm>
            <a:off x="75895" y="0"/>
            <a:ext cx="527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Alignment.ipynb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5052B-4851-F58F-E873-5F7E8059E8D2}"/>
              </a:ext>
            </a:extLst>
          </p:cNvPr>
          <p:cNvSpPr txBox="1"/>
          <p:nvPr/>
        </p:nvSpPr>
        <p:spPr>
          <a:xfrm>
            <a:off x="75894" y="262759"/>
            <a:ext cx="5271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Cleo 2025/03/09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74826-DDEF-6643-93A0-35654B9290B9}"/>
              </a:ext>
            </a:extLst>
          </p:cNvPr>
          <p:cNvSpPr txBox="1"/>
          <p:nvPr/>
        </p:nvSpPr>
        <p:spPr>
          <a:xfrm>
            <a:off x="108942" y="1027208"/>
            <a:ext cx="5572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STEP3: Find best transformation based on the newly aligned z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6C0AFE9F-A661-C42E-970D-00B50EAA83A3}"/>
              </a:ext>
            </a:extLst>
          </p:cNvPr>
          <p:cNvSpPr txBox="1"/>
          <p:nvPr/>
        </p:nvSpPr>
        <p:spPr>
          <a:xfrm>
            <a:off x="108942" y="1442115"/>
            <a:ext cx="96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A. </a:t>
            </a:r>
            <a:r>
              <a:rPr lang="en-US" sz="1600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transformation_parameter</a:t>
            </a: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 looks great, no need for further transformation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7283269F-D17E-98F3-55DC-7E56E02BCF12}"/>
              </a:ext>
            </a:extLst>
          </p:cNvPr>
          <p:cNvSpPr txBox="1"/>
          <p:nvPr/>
        </p:nvSpPr>
        <p:spPr>
          <a:xfrm>
            <a:off x="729907" y="1780669"/>
            <a:ext cx="2617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parameter 0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17784AFE-ABC5-0088-8D82-2D97690191A7}"/>
              </a:ext>
            </a:extLst>
          </p:cNvPr>
          <p:cNvSpPr txBox="1"/>
          <p:nvPr/>
        </p:nvSpPr>
        <p:spPr>
          <a:xfrm>
            <a:off x="729907" y="3105940"/>
            <a:ext cx="2743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*for each plane, repeat STEP1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4A4F1B-9107-E8EA-3B2B-D5E4200418CF}"/>
              </a:ext>
            </a:extLst>
          </p:cNvPr>
          <p:cNvSpPr txBox="1"/>
          <p:nvPr/>
        </p:nvSpPr>
        <p:spPr>
          <a:xfrm>
            <a:off x="3368525" y="1787730"/>
            <a:ext cx="2727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parameter 1-n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7F0690-D0EA-6C7F-B6C9-3230290BBA41}"/>
              </a:ext>
            </a:extLst>
          </p:cNvPr>
          <p:cNvSpPr txBox="1"/>
          <p:nvPr/>
        </p:nvSpPr>
        <p:spPr>
          <a:xfrm>
            <a:off x="2728746" y="1901772"/>
            <a:ext cx="1139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A88CDA-DABF-E7F1-4737-656D237C63AA}"/>
              </a:ext>
            </a:extLst>
          </p:cNvPr>
          <p:cNvCxnSpPr>
            <a:cxnSpLocks/>
          </p:cNvCxnSpPr>
          <p:nvPr/>
        </p:nvCxnSpPr>
        <p:spPr>
          <a:xfrm>
            <a:off x="2687496" y="1926229"/>
            <a:ext cx="68102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55938F6-6D72-96C5-35D8-0BC22E095BD6}"/>
              </a:ext>
            </a:extLst>
          </p:cNvPr>
          <p:cNvSpPr txBox="1"/>
          <p:nvPr/>
        </p:nvSpPr>
        <p:spPr>
          <a:xfrm>
            <a:off x="108942" y="2707838"/>
            <a:ext cx="96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B. </a:t>
            </a:r>
            <a:r>
              <a:rPr lang="en-US" sz="1600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transformation_parameter</a:t>
            </a: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 looks great, no need for further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423538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2C61A-9091-BFF0-5878-E6218FDC5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4A61F61-29B2-AF90-4E1A-13C0D1D21A46}"/>
              </a:ext>
            </a:extLst>
          </p:cNvPr>
          <p:cNvSpPr/>
          <p:nvPr/>
        </p:nvSpPr>
        <p:spPr>
          <a:xfrm flipV="1">
            <a:off x="2711799" y="4121425"/>
            <a:ext cx="6390918" cy="1398024"/>
          </a:xfrm>
          <a:prstGeom prst="triangle">
            <a:avLst>
              <a:gd name="adj" fmla="val 4879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9F2DBE-85A7-45CE-CA3E-F70CFA7D26B7}"/>
              </a:ext>
            </a:extLst>
          </p:cNvPr>
          <p:cNvSpPr txBox="1"/>
          <p:nvPr/>
        </p:nvSpPr>
        <p:spPr>
          <a:xfrm>
            <a:off x="75895" y="0"/>
            <a:ext cx="527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Alignment.ipynb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0B4CC-183D-DA59-4BF3-C07E27A2626A}"/>
              </a:ext>
            </a:extLst>
          </p:cNvPr>
          <p:cNvSpPr txBox="1"/>
          <p:nvPr/>
        </p:nvSpPr>
        <p:spPr>
          <a:xfrm>
            <a:off x="75894" y="262759"/>
            <a:ext cx="5271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Cleo 2025/03/09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E9AC4-35DE-6408-A15D-B1FEE60A4456}"/>
              </a:ext>
            </a:extLst>
          </p:cNvPr>
          <p:cNvSpPr txBox="1"/>
          <p:nvPr/>
        </p:nvSpPr>
        <p:spPr>
          <a:xfrm>
            <a:off x="108942" y="1027208"/>
            <a:ext cx="5572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STEP4: Find all the neurons’ new locations in the Atlas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6D16E6AE-38E4-FCB8-0973-D5C15196004F}"/>
              </a:ext>
            </a:extLst>
          </p:cNvPr>
          <p:cNvSpPr txBox="1"/>
          <p:nvPr/>
        </p:nvSpPr>
        <p:spPr>
          <a:xfrm>
            <a:off x="108942" y="1442115"/>
            <a:ext cx="96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Create a location dictionary between </a:t>
            </a:r>
            <a:r>
              <a:rPr lang="en-US" sz="1600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the transformed </a:t>
            </a:r>
            <a:r>
              <a:rPr lang="en-US" sz="1600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8B2350-BCE0-11BB-35C3-097B938E9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38" t="3830" r="5482" b="9185"/>
          <a:stretch>
            <a:fillRect/>
          </a:stretch>
        </p:blipFill>
        <p:spPr>
          <a:xfrm>
            <a:off x="2661054" y="1935850"/>
            <a:ext cx="2089524" cy="2101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762203-2F36-4FDA-BD9A-245861DF9D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65" t="4376" r="8090" b="9185"/>
          <a:stretch>
            <a:fillRect/>
          </a:stretch>
        </p:blipFill>
        <p:spPr>
          <a:xfrm>
            <a:off x="7013192" y="1906716"/>
            <a:ext cx="2089525" cy="20886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8D5A93-9EBE-0134-150B-978DAD874726}"/>
              </a:ext>
            </a:extLst>
          </p:cNvPr>
          <p:cNvSpPr txBox="1"/>
          <p:nvPr/>
        </p:nvSpPr>
        <p:spPr>
          <a:xfrm>
            <a:off x="203199" y="4344037"/>
            <a:ext cx="96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Down sample and embed all the neuron locations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73BFB-4574-9934-8F8F-CA56BED85D3A}"/>
              </a:ext>
            </a:extLst>
          </p:cNvPr>
          <p:cNvSpPr txBox="1"/>
          <p:nvPr/>
        </p:nvSpPr>
        <p:spPr>
          <a:xfrm>
            <a:off x="2067761" y="5599959"/>
            <a:ext cx="2000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downsample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A528B1-37E6-6AA0-5FBD-E4CE22E838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7" t="2778" r="3769" b="10682"/>
          <a:stretch>
            <a:fillRect/>
          </a:stretch>
        </p:blipFill>
        <p:spPr>
          <a:xfrm>
            <a:off x="374573" y="4868135"/>
            <a:ext cx="1546034" cy="1521648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1E1BEC-7FD8-EF1B-9BA4-E0F271B3ECF1}"/>
              </a:ext>
            </a:extLst>
          </p:cNvPr>
          <p:cNvCxnSpPr>
            <a:cxnSpLocks/>
          </p:cNvCxnSpPr>
          <p:nvPr/>
        </p:nvCxnSpPr>
        <p:spPr>
          <a:xfrm>
            <a:off x="2067761" y="5599959"/>
            <a:ext cx="108150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AAB9158-4F6D-9B62-AA5C-1C36103784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982" t="7421" r="5827" b="9482"/>
          <a:stretch>
            <a:fillRect/>
          </a:stretch>
        </p:blipFill>
        <p:spPr>
          <a:xfrm>
            <a:off x="3328786" y="4868135"/>
            <a:ext cx="1683889" cy="16321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02FB38-03AE-E968-4BFC-47E1FA42428A}"/>
              </a:ext>
            </a:extLst>
          </p:cNvPr>
          <p:cNvSpPr txBox="1"/>
          <p:nvPr/>
        </p:nvSpPr>
        <p:spPr>
          <a:xfrm>
            <a:off x="5157545" y="5599959"/>
            <a:ext cx="2000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  <a:p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trnasformation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A54375-F56B-BD59-EAAF-9932DDA160E0}"/>
              </a:ext>
            </a:extLst>
          </p:cNvPr>
          <p:cNvCxnSpPr>
            <a:cxnSpLocks/>
          </p:cNvCxnSpPr>
          <p:nvPr/>
        </p:nvCxnSpPr>
        <p:spPr>
          <a:xfrm>
            <a:off x="5157545" y="5599959"/>
            <a:ext cx="108150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245A1A-C02B-136E-587D-3FEEE4F32CA2}"/>
              </a:ext>
            </a:extLst>
          </p:cNvPr>
          <p:cNvCxnSpPr>
            <a:cxnSpLocks/>
          </p:cNvCxnSpPr>
          <p:nvPr/>
        </p:nvCxnSpPr>
        <p:spPr>
          <a:xfrm>
            <a:off x="4822425" y="2951047"/>
            <a:ext cx="200051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8D720EF-8931-9C96-8783-0C91E22F2923}"/>
              </a:ext>
            </a:extLst>
          </p:cNvPr>
          <p:cNvSpPr txBox="1"/>
          <p:nvPr/>
        </p:nvSpPr>
        <p:spPr>
          <a:xfrm>
            <a:off x="4881626" y="2986771"/>
            <a:ext cx="2000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parameter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D57E4AA-8AB0-82AA-36AC-93AA1900670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889" t="3507" r="5482" b="9185"/>
          <a:stretch>
            <a:fillRect/>
          </a:stretch>
        </p:blipFill>
        <p:spPr>
          <a:xfrm>
            <a:off x="6383920" y="4799520"/>
            <a:ext cx="1683890" cy="17055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90809A0-47D3-1AB3-C4AF-B44C02B95124}"/>
              </a:ext>
            </a:extLst>
          </p:cNvPr>
          <p:cNvSpPr txBox="1"/>
          <p:nvPr/>
        </p:nvSpPr>
        <p:spPr>
          <a:xfrm>
            <a:off x="8181280" y="5599959"/>
            <a:ext cx="2000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upsample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disembed</a:t>
            </a:r>
            <a:endParaRPr lang="en-US" sz="1200" i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63A4BE-D498-5D04-1C42-CF36F6828113}"/>
              </a:ext>
            </a:extLst>
          </p:cNvPr>
          <p:cNvCxnSpPr>
            <a:cxnSpLocks/>
          </p:cNvCxnSpPr>
          <p:nvPr/>
        </p:nvCxnSpPr>
        <p:spPr>
          <a:xfrm>
            <a:off x="8181280" y="5599959"/>
            <a:ext cx="108150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9C9A828-6908-E035-B1F7-8DCA9EBC9F02}"/>
              </a:ext>
            </a:extLst>
          </p:cNvPr>
          <p:cNvSpPr txBox="1"/>
          <p:nvPr/>
        </p:nvSpPr>
        <p:spPr>
          <a:xfrm>
            <a:off x="6324232" y="4799519"/>
            <a:ext cx="2000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Atlas space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D0E428-4BF4-5012-7299-7B77C33CB938}"/>
              </a:ext>
            </a:extLst>
          </p:cNvPr>
          <p:cNvSpPr txBox="1"/>
          <p:nvPr/>
        </p:nvSpPr>
        <p:spPr>
          <a:xfrm>
            <a:off x="7013192" y="1864781"/>
            <a:ext cx="2000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Atlas space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8330AEE-E500-088F-A819-3BD1EBAB31F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668" t="5468" r="1292" b="9205"/>
          <a:stretch>
            <a:fillRect/>
          </a:stretch>
        </p:blipFill>
        <p:spPr>
          <a:xfrm>
            <a:off x="9342141" y="4668928"/>
            <a:ext cx="1319061" cy="203060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2CEC422-2BC2-C4C0-29D2-811106A85B12}"/>
              </a:ext>
            </a:extLst>
          </p:cNvPr>
          <p:cNvSpPr txBox="1"/>
          <p:nvPr/>
        </p:nvSpPr>
        <p:spPr>
          <a:xfrm>
            <a:off x="10900626" y="5632736"/>
            <a:ext cx="2000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</a:t>
            </a:r>
          </a:p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assignment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633F4EC-B0DF-928B-E9D8-AFC8EF9959EF}"/>
              </a:ext>
            </a:extLst>
          </p:cNvPr>
          <p:cNvCxnSpPr>
            <a:cxnSpLocks/>
          </p:cNvCxnSpPr>
          <p:nvPr/>
        </p:nvCxnSpPr>
        <p:spPr>
          <a:xfrm>
            <a:off x="10900626" y="5632736"/>
            <a:ext cx="108150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AD20C98-1038-AE3C-59CD-0262609F659C}"/>
              </a:ext>
            </a:extLst>
          </p:cNvPr>
          <p:cNvSpPr txBox="1"/>
          <p:nvPr/>
        </p:nvSpPr>
        <p:spPr>
          <a:xfrm>
            <a:off x="9363483" y="4681937"/>
            <a:ext cx="2000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Atlas space</a:t>
            </a:r>
          </a:p>
        </p:txBody>
      </p:sp>
    </p:spTree>
    <p:extLst>
      <p:ext uri="{BB962C8B-B14F-4D97-AF65-F5344CB8AC3E}">
        <p14:creationId xmlns:p14="http://schemas.microsoft.com/office/powerpoint/2010/main" val="258361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F2ACF-3F35-18E1-188D-B652B168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399746FF-53F0-CA08-D1CE-73230E9DA921}"/>
              </a:ext>
            </a:extLst>
          </p:cNvPr>
          <p:cNvSpPr txBox="1"/>
          <p:nvPr/>
        </p:nvSpPr>
        <p:spPr>
          <a:xfrm>
            <a:off x="75895" y="0"/>
            <a:ext cx="527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Alignment.ipynb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48640-E5A2-87FA-B2B2-15CC9AFDAE60}"/>
              </a:ext>
            </a:extLst>
          </p:cNvPr>
          <p:cNvSpPr txBox="1"/>
          <p:nvPr/>
        </p:nvSpPr>
        <p:spPr>
          <a:xfrm>
            <a:off x="75894" y="262759"/>
            <a:ext cx="5271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Cleo 2025/03/09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5E5B83-843E-2BAE-1B3F-966E796888A5}"/>
              </a:ext>
            </a:extLst>
          </p:cNvPr>
          <p:cNvSpPr txBox="1"/>
          <p:nvPr/>
        </p:nvSpPr>
        <p:spPr>
          <a:xfrm>
            <a:off x="108942" y="1027208"/>
            <a:ext cx="55727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output: ready to be read by fish class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B247E2E2-2636-9F98-11CC-8A12D864ADCA}"/>
              </a:ext>
            </a:extLst>
          </p:cNvPr>
          <p:cNvSpPr txBox="1"/>
          <p:nvPr/>
        </p:nvSpPr>
        <p:spPr>
          <a:xfrm>
            <a:off x="351313" y="1440597"/>
            <a:ext cx="96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params:.txt</a:t>
            </a:r>
            <a:endParaRPr lang="en-US" sz="16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CF139-2B44-E6B5-0379-65C11958E90E}"/>
              </a:ext>
            </a:extLst>
          </p:cNvPr>
          <p:cNvSpPr txBox="1"/>
          <p:nvPr/>
        </p:nvSpPr>
        <p:spPr>
          <a:xfrm>
            <a:off x="351313" y="4359025"/>
            <a:ext cx="96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new_pos.csv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79845-941A-39A5-7B5A-C95D1E537F71}"/>
              </a:ext>
            </a:extLst>
          </p:cNvPr>
          <p:cNvSpPr txBox="1"/>
          <p:nvPr/>
        </p:nvSpPr>
        <p:spPr>
          <a:xfrm>
            <a:off x="515039" y="1779151"/>
            <a:ext cx="645037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i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{'</a:t>
            </a:r>
            <a:r>
              <a:rPr lang="en-US" dirty="0" err="1"/>
              <a:t>vmin</a:t>
            </a:r>
            <a:r>
              <a:rPr lang="en-US" dirty="0"/>
              <a:t>': 200,</a:t>
            </a:r>
          </a:p>
          <a:p>
            <a:r>
              <a:rPr lang="en-US" dirty="0"/>
              <a:t> '</a:t>
            </a:r>
            <a:r>
              <a:rPr lang="en-US" dirty="0" err="1"/>
              <a:t>vmax</a:t>
            </a:r>
            <a:r>
              <a:rPr lang="en-US" dirty="0"/>
              <a:t>': 300,</a:t>
            </a:r>
          </a:p>
          <a:p>
            <a:r>
              <a:rPr lang="en-US" dirty="0"/>
              <a:t> '</a:t>
            </a:r>
            <a:r>
              <a:rPr lang="en-US" dirty="0" err="1"/>
              <a:t>vmin_template</a:t>
            </a:r>
            <a:r>
              <a:rPr lang="en-US" dirty="0"/>
              <a:t>': 20,</a:t>
            </a:r>
          </a:p>
          <a:p>
            <a:r>
              <a:rPr lang="en-US" dirty="0"/>
              <a:t> '</a:t>
            </a:r>
            <a:r>
              <a:rPr lang="en-US" dirty="0" err="1"/>
              <a:t>vmax_template</a:t>
            </a:r>
            <a:r>
              <a:rPr lang="en-US" dirty="0"/>
              <a:t>': 100,</a:t>
            </a:r>
          </a:p>
          <a:p>
            <a:r>
              <a:rPr lang="en-US" dirty="0"/>
              <a:t> '</a:t>
            </a:r>
            <a:r>
              <a:rPr lang="en-US" dirty="0" err="1"/>
              <a:t>y_top_cutoff</a:t>
            </a:r>
            <a:r>
              <a:rPr lang="en-US" dirty="0"/>
              <a:t>': 65,</a:t>
            </a:r>
          </a:p>
          <a:p>
            <a:r>
              <a:rPr lang="en-US" dirty="0"/>
              <a:t> '</a:t>
            </a:r>
            <a:r>
              <a:rPr lang="en-US" dirty="0" err="1"/>
              <a:t>y_low_cutoff</a:t>
            </a:r>
            <a:r>
              <a:rPr lang="en-US" dirty="0"/>
              <a:t>': 850,</a:t>
            </a:r>
          </a:p>
          <a:p>
            <a:r>
              <a:rPr lang="en-US" dirty="0"/>
              <a:t> '</a:t>
            </a:r>
            <a:r>
              <a:rPr lang="en-US" dirty="0" err="1"/>
              <a:t>downsample</a:t>
            </a:r>
            <a:r>
              <a:rPr lang="en-US" dirty="0"/>
              <a:t>': 1,</a:t>
            </a:r>
          </a:p>
          <a:p>
            <a:r>
              <a:rPr lang="en-US" dirty="0"/>
              <a:t> '</a:t>
            </a:r>
            <a:r>
              <a:rPr lang="en-US" dirty="0" err="1"/>
              <a:t>gaussian_sigma</a:t>
            </a:r>
            <a:r>
              <a:rPr lang="en-US" dirty="0"/>
              <a:t>': 1,</a:t>
            </a:r>
          </a:p>
          <a:p>
            <a:r>
              <a:rPr lang="en-US" dirty="0"/>
              <a:t> '</a:t>
            </a:r>
            <a:r>
              <a:rPr lang="en-US" dirty="0" err="1"/>
              <a:t>template_path</a:t>
            </a:r>
            <a:r>
              <a:rPr lang="en-US" dirty="0"/>
              <a:t>': 'C:\\Data\\</a:t>
            </a:r>
            <a:r>
              <a:rPr lang="en-US" dirty="0" err="1"/>
              <a:t>MapZBrainATLAS</a:t>
            </a:r>
            <a:r>
              <a:rPr lang="en-US" dirty="0"/>
              <a:t>\\</a:t>
            </a:r>
            <a:r>
              <a:rPr lang="en-US" dirty="0" err="1"/>
              <a:t>T_AVG_HuCD.tif</a:t>
            </a:r>
            <a:r>
              <a:rPr lang="en-US" dirty="0"/>
              <a:t>',</a:t>
            </a:r>
          </a:p>
          <a:p>
            <a:r>
              <a:rPr lang="en-US" dirty="0"/>
              <a:t> '</a:t>
            </a:r>
            <a:r>
              <a:rPr lang="en-US" dirty="0" err="1"/>
              <a:t>scalePanalty</a:t>
            </a:r>
            <a:r>
              <a:rPr lang="en-US" dirty="0"/>
              <a:t>': 100,</a:t>
            </a:r>
          </a:p>
          <a:p>
            <a:r>
              <a:rPr lang="en-US" dirty="0"/>
              <a:t> 'iterations_0': (512, 512),</a:t>
            </a:r>
          </a:p>
          <a:p>
            <a:r>
              <a:rPr lang="en-US" dirty="0"/>
              <a:t> 'iterations_1': (100, 10),</a:t>
            </a:r>
          </a:p>
          <a:p>
            <a:r>
              <a:rPr lang="en-US" dirty="0"/>
              <a:t> '</a:t>
            </a:r>
            <a:r>
              <a:rPr lang="en-US" dirty="0" err="1"/>
              <a:t>new_pos_reference</a:t>
            </a:r>
            <a:r>
              <a:rPr lang="en-US" dirty="0"/>
              <a:t>': 'X'}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EF4007-1E70-1E7E-1A1A-97F6B07FA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44" y="4784463"/>
            <a:ext cx="8478433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61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475</Words>
  <Application>Microsoft Office PowerPoint</Application>
  <PresentationFormat>Widescreen</PresentationFormat>
  <Paragraphs>105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Zichen He</dc:creator>
  <cp:lastModifiedBy>Zichen He</cp:lastModifiedBy>
  <cp:revision>36</cp:revision>
  <dcterms:created xsi:type="dcterms:W3CDTF">2025-11-07T16:47:37Z</dcterms:created>
  <dcterms:modified xsi:type="dcterms:W3CDTF">2026-03-09T14:55:04Z</dcterms:modified>
</cp:coreProperties>
</file>